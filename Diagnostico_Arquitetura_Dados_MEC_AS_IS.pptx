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c0382b9f-1fc3-bcb3-6f1d-677aff2e704f}">
          <p14:sldIdLst>
            <p14:sldId id="256"/>
            <p14:sldId id="257"/>
            <p14:sldId id="258"/>
          </p14:sldIdLst>
        </p14:section>
        <p14:section name="Contexto" id="{64872d34-914a-da4e-b661-ad2d8b754ebd}">
          <p14:sldIdLst>
            <p14:sldId id="259"/>
            <p14:sldId id="260"/>
          </p14:sldIdLst>
        </p14:section>
        <p14:section name="Arquitetura (AS IS)" id="{f3315995-6978-8086-d810-7d4b9758e869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Governança e tecnologias" id="{477861e7-6629-296f-8702-a0378227c16c}">
          <p14:sldIdLst>
            <p14:sldId id="268"/>
            <p14:sldId id="269"/>
          </p14:sldIdLst>
        </p14:section>
        <p14:section name="Situação e próximos passos" id="{c2df2066-26f0-4250-314b-fb2cf43a0550}">
          <p14:sldIdLst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do entregável da Meta 2 – Diagnóstico inicial da arquitetura de dados do MEC (AS 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este/65d26261-f979-5dc7-abc9-e1e7ed7b53ce/scratchpad/img/shapes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0"/>
            <a:ext cx="1874520" cy="56052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22960" y="1828800"/>
            <a:ext cx="8412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i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22960" y="3931920"/>
            <a:ext cx="8412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i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este/65d26261-f979-5dc7-abc9-e1e7ed7b53ce/scratchpad/img/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02920" cy="47274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4" name="Image 1" descr="/tmp/claude-0/-home-user-teste/65d26261-f979-5dc7-abc9-e1e7ed7b53ce/scratchpad/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464808"/>
            <a:ext cx="1344168" cy="3291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468880" y="6400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bg1"/>
                </a:solidFill>
              </a:rPr>
              <a:t>Meta 2 · Diagnóstico inicial da arquitetura de dados MEC (AS IS)</a:t>
            </a:r>
            <a:endParaRPr lang="en-US" sz="1000" dirty="0"/>
          </a:p>
        </p:txBody>
      </p:sp>
      <p:pic>
        <p:nvPicPr>
          <p:cNvPr id="6" name="Image 2" descr="/tmp/claude-0/-home-user-teste/65d26261-f979-5dc7-abc9-e1e7ed7b53ce/scratchpad/img/green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5" y="6236208"/>
            <a:ext cx="1280160" cy="1280160"/>
          </a:xfrm>
          <a:prstGeom prst="rect">
            <a:avLst/>
          </a:prstGeom>
        </p:spPr>
      </p:pic>
      <p:sp>
        <p:nvSpPr>
          <p:cNvPr id="7" name="Text 2"/>
          <p:cNvSpPr/>
          <p:nvPr>
            <p:ph idx="105" type="title" hasCustomPrompt="1"/>
          </p:nvPr>
        </p:nvSpPr>
        <p:spPr>
          <a:xfrm>
            <a:off x="822960" y="365760"/>
            <a:ext cx="106070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i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AO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este/65d26261-f979-5dc7-abc9-e1e7ed7b53ce/scratchpad/img/shapes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640080"/>
            <a:ext cx="1874520" cy="560527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103120"/>
            <a:ext cx="59436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i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749040"/>
            <a:ext cx="5943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i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822960" y="182880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i="1" dirty="0">
                <a:solidFill>
                  <a:schemeClr val="bg1"/>
                </a:solidFill>
              </a:rPr>
              <a:t>Desenvolvimento de Metodologia para a Governança na Gestão dos Contratos</a:t>
            </a:r>
            <a:endParaRPr lang="en-US" sz="4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822960" y="39319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Meta 2 · Estruturação de Ecossistema de Dados</a:t>
            </a:r>
            <a:endParaRPr lang="en-US" sz="1800" dirty="0"/>
          </a:p>
        </p:txBody>
      </p:sp>
      <p:pic>
        <p:nvPicPr>
          <p:cNvPr id="4" name="Image 0" descr="/tmp/claude-0/-home-user-teste/65d26261-f979-5dc7-abc9-e1e7ed7b53ce/scratchpad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983480"/>
            <a:ext cx="3364992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5" type="title" hasCustomPrompt="1"/>
          </p:nvPr>
        </p:nvSpPr>
        <p:spPr>
          <a:xfrm>
            <a:off x="82296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chemeClr val="tx1"/>
                </a:solidFill>
              </a:rPr>
              <a:t>Diagnóstico da arquitetura de dados (AS IS)</a:t>
            </a:r>
            <a:endParaRPr lang="en-US" sz="3200" dirty="0"/>
          </a:p>
        </p:txBody>
      </p:sp>
      <p:sp>
        <p:nvSpPr>
          <p:cNvPr id="3" name="Cartão entregável"/>
          <p:cNvSpPr/>
          <p:nvPr/>
        </p:nvSpPr>
        <p:spPr>
          <a:xfrm>
            <a:off x="822960" y="1417320"/>
            <a:ext cx="4937760" cy="4480560"/>
          </a:xfrm>
          <a:prstGeom prst="roundRect">
            <a:avLst>
              <a:gd name="adj" fmla="val 2449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88720" y="1737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META 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2402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Estruturação de Ecossistema de Dados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2004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bg1"/>
                </a:solidFill>
              </a:rPr>
              <a:t>Entregável: diagnóstico inicial da arquitetura de dados em operação na CGDA/STIC do Ministério da Educação.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48463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bg1"/>
                </a:solidFill>
              </a:rPr>
              <a:t>Universidade Federal de Santa Catarina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Junho de 2026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417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Equipe Técnica</a:t>
            </a:r>
            <a:endParaRPr lang="en-US" sz="2000" dirty="0"/>
          </a:p>
        </p:txBody>
      </p:sp>
      <p:sp>
        <p:nvSpPr>
          <p:cNvPr id="9" name="Equipe 1 círculo"/>
          <p:cNvSpPr/>
          <p:nvPr/>
        </p:nvSpPr>
        <p:spPr>
          <a:xfrm>
            <a:off x="6309360" y="2057400"/>
            <a:ext cx="658368" cy="658368"/>
          </a:xfrm>
          <a:prstGeom prst="ellipse">
            <a:avLst/>
          </a:prstGeom>
          <a:solidFill>
            <a:srgbClr val="FF031E"/>
          </a:solidFill>
          <a:ln/>
        </p:spPr>
      </p:sp>
      <p:pic>
        <p:nvPicPr>
          <p:cNvPr id="10" name="Equipe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2" y="2221992"/>
            <a:ext cx="329184" cy="32918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178040" y="20574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FERNANDO RICHARTZ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Coordenação Geral</a:t>
            </a:r>
            <a:endParaRPr lang="en-US" sz="1500" dirty="0"/>
          </a:p>
        </p:txBody>
      </p:sp>
      <p:sp>
        <p:nvSpPr>
          <p:cNvPr id="12" name="Equipe 2 círculo"/>
          <p:cNvSpPr/>
          <p:nvPr/>
        </p:nvSpPr>
        <p:spPr>
          <a:xfrm>
            <a:off x="6309360" y="2990088"/>
            <a:ext cx="658368" cy="658368"/>
          </a:xfrm>
          <a:prstGeom prst="ellipse">
            <a:avLst/>
          </a:prstGeom>
          <a:solidFill>
            <a:srgbClr val="FFD000"/>
          </a:solidFill>
          <a:ln/>
        </p:spPr>
      </p:sp>
      <p:pic>
        <p:nvPicPr>
          <p:cNvPr id="13" name="Equipe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315468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78040" y="299008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DANTE LUIZ JULIATTO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Coordenação Meta 1</a:t>
            </a:r>
            <a:endParaRPr lang="en-US" sz="1500" dirty="0"/>
          </a:p>
        </p:txBody>
      </p:sp>
      <p:sp>
        <p:nvSpPr>
          <p:cNvPr id="15" name="Equipe 3 círculo"/>
          <p:cNvSpPr/>
          <p:nvPr/>
        </p:nvSpPr>
        <p:spPr>
          <a:xfrm>
            <a:off x="6309360" y="3922776"/>
            <a:ext cx="658368" cy="658368"/>
          </a:xfrm>
          <a:prstGeom prst="ellipse">
            <a:avLst/>
          </a:prstGeom>
          <a:solidFill>
            <a:srgbClr val="00D100"/>
          </a:solidFill>
          <a:ln/>
        </p:spPr>
      </p:sp>
      <p:pic>
        <p:nvPicPr>
          <p:cNvPr id="16" name="Equipe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40873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78040" y="392277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SIDNEI RODRIGUES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Coordenação Metas 2, 3 e 5</a:t>
            </a:r>
            <a:endParaRPr lang="en-US" sz="1500" dirty="0"/>
          </a:p>
        </p:txBody>
      </p:sp>
      <p:sp>
        <p:nvSpPr>
          <p:cNvPr id="18" name="Equipe 4 círculo"/>
          <p:cNvSpPr/>
          <p:nvPr/>
        </p:nvSpPr>
        <p:spPr>
          <a:xfrm>
            <a:off x="6309360" y="4855464"/>
            <a:ext cx="658368" cy="658368"/>
          </a:xfrm>
          <a:prstGeom prst="ellipse">
            <a:avLst/>
          </a:prstGeom>
          <a:solidFill>
            <a:srgbClr val="003CFF"/>
          </a:solidFill>
          <a:ln/>
        </p:spPr>
      </p:sp>
      <p:pic>
        <p:nvPicPr>
          <p:cNvPr id="19" name="Equipe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5020056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178040" y="485546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SÉRGIO MURILO PETRI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Coordenação Meta 4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5" type="title" hasCustomPrompt="1"/>
          </p:nvPr>
        </p:nvSpPr>
        <p:spPr>
          <a:xfrm>
            <a:off x="82296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chemeClr val="tx1"/>
                </a:solidFill>
              </a:rPr>
              <a:t>Sumário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685800" cy="685800"/>
          </a:xfrm>
          <a:prstGeom prst="roundRect">
            <a:avLst>
              <a:gd name="adj" fmla="val 49333"/>
            </a:avLst>
          </a:prstGeom>
          <a:solidFill>
            <a:srgbClr val="FF03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4630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Introdução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59152"/>
            <a:ext cx="685800" cy="685800"/>
          </a:xfrm>
          <a:prstGeom prst="roundRect">
            <a:avLst>
              <a:gd name="adj" fmla="val 49333"/>
            </a:avLst>
          </a:prstGeom>
          <a:solidFill>
            <a:srgbClr val="FFD0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5915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35915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Visão geral do ecossistema de dados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255264"/>
            <a:ext cx="685800" cy="685800"/>
          </a:xfrm>
          <a:prstGeom prst="roundRect">
            <a:avLst>
              <a:gd name="adj" fmla="val 49333"/>
            </a:avLst>
          </a:prstGeom>
          <a:solidFill>
            <a:srgbClr val="00D1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25526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255264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Arquitetura de dados (AS IS)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151376"/>
            <a:ext cx="685800" cy="685800"/>
          </a:xfrm>
          <a:prstGeom prst="roundRect">
            <a:avLst>
              <a:gd name="adj" fmla="val 49333"/>
            </a:avLst>
          </a:prstGeom>
          <a:solidFill>
            <a:srgbClr val="003C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15137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15137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Pipeline de ETL/ELT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5047488"/>
            <a:ext cx="685800" cy="685800"/>
          </a:xfrm>
          <a:prstGeom prst="roundRect">
            <a:avLst>
              <a:gd name="adj" fmla="val 49333"/>
            </a:avLst>
          </a:prstGeom>
          <a:solidFill>
            <a:srgbClr val="002AA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0474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504748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Arquitetura medalhão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0" y="1463040"/>
            <a:ext cx="685800" cy="685800"/>
          </a:xfrm>
          <a:prstGeom prst="roundRect">
            <a:avLst>
              <a:gd name="adj" fmla="val 49333"/>
            </a:avLst>
          </a:prstGeom>
          <a:solidFill>
            <a:srgbClr val="FF031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6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14630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Governança de dados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0" y="2359152"/>
            <a:ext cx="685800" cy="685800"/>
          </a:xfrm>
          <a:prstGeom prst="roundRect">
            <a:avLst>
              <a:gd name="adj" fmla="val 49333"/>
            </a:avLst>
          </a:prstGeom>
          <a:solidFill>
            <a:srgbClr val="FFD0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0" y="235915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7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235915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Descrição das tecnologias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0" y="3255264"/>
            <a:ext cx="685800" cy="685800"/>
          </a:xfrm>
          <a:prstGeom prst="roundRect">
            <a:avLst>
              <a:gd name="adj" fmla="val 49333"/>
            </a:avLst>
          </a:prstGeom>
          <a:solidFill>
            <a:srgbClr val="00D1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0" y="325526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8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3255264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Condições atuais de acesso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0" y="4151376"/>
            <a:ext cx="685800" cy="685800"/>
          </a:xfrm>
          <a:prstGeom prst="roundRect">
            <a:avLst>
              <a:gd name="adj" fmla="val 49333"/>
            </a:avLst>
          </a:prstGeom>
          <a:solidFill>
            <a:srgbClr val="003C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72000" y="415137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9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5440680" y="4151376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Próximos passos</a:t>
            </a:r>
            <a:endParaRPr lang="en-US" sz="1600" dirty="0"/>
          </a:p>
        </p:txBody>
      </p:sp>
      <p:pic>
        <p:nvPicPr>
          <p:cNvPr id="30" name="Ilustração data-analysis" descr="Ilustração: pessoa analisando fluxo de da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2103120"/>
            <a:ext cx="3017520" cy="208392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5" type="title" hasCustomPrompt="1"/>
          </p:nvPr>
        </p:nvSpPr>
        <p:spPr>
          <a:xfrm>
            <a:off x="82296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chemeClr val="tx1"/>
                </a:solidFill>
              </a:rPr>
              <a:t>Introdução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O relatório consolida o diagnóstico inicial da arquitetura de dados em operação na Coordenação-Geral de Dados e Analytics (CGDA), vinculada à STIC do MEC, registrando o estado atual (AS IS) de componentes, fluxos e governança.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Análise documental dos artefatos da equipe de dados do MEC</a:t>
            </a:r>
            <a:endParaRPr lang="en-US" sz="1800" dirty="0"/>
          </a:p>
        </p:txBody>
      </p:sp>
      <p:sp>
        <p:nvSpPr>
          <p:cNvPr id="5" name="Documento 1"/>
          <p:cNvSpPr/>
          <p:nvPr/>
        </p:nvSpPr>
        <p:spPr>
          <a:xfrm>
            <a:off x="822960" y="2926080"/>
            <a:ext cx="251460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3108960"/>
            <a:ext cx="640080" cy="640080"/>
          </a:xfrm>
          <a:prstGeom prst="ellipse">
            <a:avLst/>
          </a:prstGeom>
          <a:solidFill>
            <a:srgbClr val="FF031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32689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51560" y="3840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Metodologia de Dados da CGDA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4572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CGDA, 2026a</a:t>
            </a:r>
            <a:endParaRPr lang="en-US" sz="1200" dirty="0"/>
          </a:p>
        </p:txBody>
      </p:sp>
      <p:sp>
        <p:nvSpPr>
          <p:cNvPr id="10" name="Documento 2"/>
          <p:cNvSpPr/>
          <p:nvPr/>
        </p:nvSpPr>
        <p:spPr>
          <a:xfrm>
            <a:off x="3520440" y="2926080"/>
            <a:ext cx="251460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3749040" y="3108960"/>
            <a:ext cx="640080" cy="640080"/>
          </a:xfrm>
          <a:prstGeom prst="ellipse">
            <a:avLst/>
          </a:prstGeom>
          <a:solidFill>
            <a:srgbClr val="FFD0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060" y="32689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749040" y="3840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Fluxo do Processo de Dados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749040" y="4572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CGDA, 2025</a:t>
            </a:r>
            <a:endParaRPr lang="en-US" sz="1200" dirty="0"/>
          </a:p>
        </p:txBody>
      </p:sp>
      <p:sp>
        <p:nvSpPr>
          <p:cNvPr id="15" name="Documento 3"/>
          <p:cNvSpPr/>
          <p:nvPr/>
        </p:nvSpPr>
        <p:spPr>
          <a:xfrm>
            <a:off x="6217920" y="2926080"/>
            <a:ext cx="251460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6446520" y="3108960"/>
            <a:ext cx="640080" cy="640080"/>
          </a:xfrm>
          <a:prstGeom prst="ellipse">
            <a:avLst/>
          </a:prstGeom>
          <a:solidFill>
            <a:srgbClr val="00D10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32689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46520" y="3840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Pipeline para Ingestão de Dados – Landing Zone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46520" y="4572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CGDA, 2026b</a:t>
            </a:r>
            <a:endParaRPr lang="en-US" sz="1200" dirty="0"/>
          </a:p>
        </p:txBody>
      </p:sp>
      <p:sp>
        <p:nvSpPr>
          <p:cNvPr id="20" name="Documento 4"/>
          <p:cNvSpPr/>
          <p:nvPr/>
        </p:nvSpPr>
        <p:spPr>
          <a:xfrm>
            <a:off x="8915400" y="2926080"/>
            <a:ext cx="251460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1" name="Shape 16"/>
          <p:cNvSpPr/>
          <p:nvPr/>
        </p:nvSpPr>
        <p:spPr>
          <a:xfrm>
            <a:off x="9144000" y="3108960"/>
            <a:ext cx="640080" cy="640080"/>
          </a:xfrm>
          <a:prstGeom prst="ellipse">
            <a:avLst/>
          </a:prstGeom>
          <a:solidFill>
            <a:srgbClr val="003C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020" y="32689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144000" y="3840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Anexo de Modelagem de Dados Dimensional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9144000" y="4572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CGDA, 2022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822960" y="52578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Escopo: </a:t>
            </a:r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restringe-se à descrição do estado corrente, sem propostas de melhoria.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5" type="title" hasCustomPrompt="1"/>
          </p:nvPr>
        </p:nvSpPr>
        <p:spPr>
          <a:xfrm>
            <a:off x="82296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chemeClr val="tx1"/>
                </a:solidFill>
              </a:rPr>
              <a:t>Visão geral do ecossistema de dados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Arquitetura em camadas funcionais que cobre o ciclo completo da informação: das fontes primárias à visualização.</a:t>
            </a:r>
            <a:endParaRPr lang="en-US" sz="1500" dirty="0"/>
          </a:p>
        </p:txBody>
      </p:sp>
      <p:sp>
        <p:nvSpPr>
          <p:cNvPr id="4" name="Camada Ferramentas"/>
          <p:cNvSpPr/>
          <p:nvPr/>
        </p:nvSpPr>
        <p:spPr>
          <a:xfrm>
            <a:off x="822960" y="1783080"/>
            <a:ext cx="106070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828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Ferramentas</a:t>
            </a:r>
            <a:endParaRPr lang="en-US" sz="1500" dirty="0"/>
          </a:p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Integração, orquestração e versionamento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06240" y="1993392"/>
            <a:ext cx="219456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06240" y="19933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Apache Airflow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993392"/>
            <a:ext cx="219456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9933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Python (ETL/ELT)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61120" y="1993392"/>
            <a:ext cx="219456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0" y="19933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GitLab + GitLab CI</a:t>
            </a:r>
            <a:endParaRPr lang="en-US" sz="1300" dirty="0"/>
          </a:p>
        </p:txBody>
      </p:sp>
      <p:sp>
        <p:nvSpPr>
          <p:cNvPr id="12" name="Camada Origem"/>
          <p:cNvSpPr/>
          <p:nvPr/>
        </p:nvSpPr>
        <p:spPr>
          <a:xfrm>
            <a:off x="822960" y="2834640"/>
            <a:ext cx="329184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2971800"/>
            <a:ext cx="548640" cy="548640"/>
          </a:xfrm>
          <a:prstGeom prst="ellipse">
            <a:avLst/>
          </a:prstGeom>
          <a:solidFill>
            <a:srgbClr val="FF031E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10896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691640" y="2971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Origem</a:t>
            </a:r>
            <a:endParaRPr lang="en-US" sz="1500" dirty="0"/>
          </a:p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Ingestão em lote ou streaming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36576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Bancos relacionais (Oracle, MySQL, PostgreSQL, SQL Server)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Planilhas Excel e CSV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Olinda (API REST)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Painel de Gestão e Integração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42232" y="3840480"/>
            <a:ext cx="310896" cy="292608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18" name="Camada Armazenamento"/>
          <p:cNvSpPr/>
          <p:nvPr/>
        </p:nvSpPr>
        <p:spPr>
          <a:xfrm>
            <a:off x="4480560" y="2834640"/>
            <a:ext cx="329184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2971800"/>
            <a:ext cx="548640" cy="548640"/>
          </a:xfrm>
          <a:prstGeom prst="ellipse">
            <a:avLst/>
          </a:prstGeom>
          <a:solidFill>
            <a:srgbClr val="FFD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310896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349240" y="2971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Armazenamento</a:t>
            </a:r>
            <a:endParaRPr lang="en-US" sz="1500" dirty="0"/>
          </a:p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Oracle Exadata (Data Warehouse)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4663440" y="36576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Stage Area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Bronze, Silver, Gold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Ambientes DSV · HMG · PRD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Star Schema (Gold)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7799832" y="3840480"/>
            <a:ext cx="310896" cy="292608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24" name="Camada Apresentação"/>
          <p:cNvSpPr/>
          <p:nvPr/>
        </p:nvSpPr>
        <p:spPr>
          <a:xfrm>
            <a:off x="8138160" y="2834640"/>
            <a:ext cx="329184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321040" y="2971800"/>
            <a:ext cx="548640" cy="548640"/>
          </a:xfrm>
          <a:prstGeom prst="ellipse">
            <a:avLst/>
          </a:prstGeom>
          <a:solidFill>
            <a:srgbClr val="00D100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108960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9006840" y="2971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Apresentação</a:t>
            </a:r>
            <a:endParaRPr lang="en-US" sz="1500" dirty="0"/>
          </a:p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Consumo e visualização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8321040" y="36576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Power BI (painéis)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Relatórios e APIs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Serviços de dados</a:t>
            </a:r>
            <a:endParaRPr lang="en-US" sz="1200" dirty="0"/>
          </a:p>
        </p:txBody>
      </p:sp>
      <p:sp>
        <p:nvSpPr>
          <p:cNvPr id="29" name="Camada Pessoas"/>
          <p:cNvSpPr/>
          <p:nvPr/>
        </p:nvSpPr>
        <p:spPr>
          <a:xfrm>
            <a:off x="822960" y="5257800"/>
            <a:ext cx="10607040" cy="54864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1051560" y="52578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3"/>
                </a:solidFill>
              </a:rPr>
              <a:t>Pessoas · perfis de acesso:  </a:t>
            </a:r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Adm. de Dados · Cientista · Eng. de IA · Arquiteto · Analista BI · Gestão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10312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i="1" dirty="0">
                <a:solidFill>
                  <a:schemeClr val="bg1"/>
                </a:solidFill>
              </a:rPr>
              <a:t>Arquitetura de dados (AS IS)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822960" y="37490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Repositórios, ambientes, pipeline e arquitetura medalhão</a:t>
            </a:r>
            <a:endParaRPr lang="en-US" sz="1800" dirty="0"/>
          </a:p>
        </p:txBody>
      </p:sp>
      <p:sp>
        <p:nvSpPr>
          <p:cNvPr id="4" name="Círculo ilustração"/>
          <p:cNvSpPr/>
          <p:nvPr/>
        </p:nvSpPr>
        <p:spPr>
          <a:xfrm>
            <a:off x="7086600" y="1417320"/>
            <a:ext cx="3017520" cy="30175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5" name="Ilustração server-cluster" descr="Ilustração: cluster de servido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920240"/>
            <a:ext cx="2011680" cy="16106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5" type="title" hasCustomPrompt="1"/>
          </p:nvPr>
        </p:nvSpPr>
        <p:spPr>
          <a:xfrm>
            <a:off x="82296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chemeClr val="tx1"/>
                </a:solidFill>
              </a:rPr>
              <a:t>Repositórios e ambientes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Repositório central: SGBD Oracle Exadata, com repositórios lógicos para a Stage Area e as camadas Bronze, Silver e Gold. A separação de ambientes viabiliza testes, homologação e dados confiáveis.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03120"/>
          <a:ext cx="7680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731520"/>
                <a:gridCol w="2880360"/>
                <a:gridCol w="173736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Server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Porta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Database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Ambiente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exacc3scan.mec.gov.br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1521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PDBDSV_DW.mec.gov.br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Desenvolvimento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exacc3scan.mec.gov.br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1521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PDBHMG_DW.mec.gov.br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Homologação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exacc2-scan.mec.gov.br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1521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PDBPRD_DW.mec.gov.br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Produção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exacc2-scan.mec.gov.br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1521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PDBPRD_STGDW.mec.gov.br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Stage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pic>
        <p:nvPicPr>
          <p:cNvPr id="5" name="Ilustração server" descr="Ilustração: pessoa ao lado de servido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2514600"/>
            <a:ext cx="2651760" cy="175381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2960" y="5257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CGDA (2026a) – Quadro 1. Detalhamento dos ambientes de banco de dados.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5" type="title" hasCustomPrompt="1"/>
          </p:nvPr>
        </p:nvSpPr>
        <p:spPr>
          <a:xfrm>
            <a:off x="82296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chemeClr val="tx1"/>
                </a:solidFill>
              </a:rPr>
              <a:t>Papel de cada ambiente</a:t>
            </a:r>
            <a:endParaRPr lang="en-US" sz="3200" dirty="0"/>
          </a:p>
        </p:txBody>
      </p:sp>
      <p:sp>
        <p:nvSpPr>
          <p:cNvPr id="3" name="Ambiente DSV"/>
          <p:cNvSpPr/>
          <p:nvPr/>
        </p:nvSpPr>
        <p:spPr>
          <a:xfrm>
            <a:off x="822960" y="1371600"/>
            <a:ext cx="2514600" cy="39319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1600200"/>
            <a:ext cx="731520" cy="731520"/>
          </a:xfrm>
          <a:prstGeom prst="ellipse">
            <a:avLst/>
          </a:prstGeom>
          <a:solidFill>
            <a:srgbClr val="FF031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Desenvolvimento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PDBDSV_DW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3832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Construção e iteração contínua dos modelos dimensionais; estruturas em constante alteração e dados frequentemente incompletos.</a:t>
            </a:r>
            <a:endParaRPr lang="en-US" sz="1400" dirty="0"/>
          </a:p>
        </p:txBody>
      </p:sp>
      <p:sp>
        <p:nvSpPr>
          <p:cNvPr id="9" name="Ambiente HMG"/>
          <p:cNvSpPr/>
          <p:nvPr/>
        </p:nvSpPr>
        <p:spPr>
          <a:xfrm>
            <a:off x="3520440" y="1371600"/>
            <a:ext cx="2514600" cy="39319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3749040" y="1600200"/>
            <a:ext cx="731520" cy="731520"/>
          </a:xfrm>
          <a:prstGeom prst="ellipse">
            <a:avLst/>
          </a:prstGeom>
          <a:solidFill>
            <a:srgbClr val="FFD0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7830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4904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Homologação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74904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PDBHMG_DW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749040" y="33832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Apresentação e validação dos modelos; estruturas alteradas apenas por implantações automatizadas, garantindo replicabilidade.</a:t>
            </a:r>
            <a:endParaRPr lang="en-US" sz="1400" dirty="0"/>
          </a:p>
        </p:txBody>
      </p:sp>
      <p:sp>
        <p:nvSpPr>
          <p:cNvPr id="15" name="Ambiente PRD"/>
          <p:cNvSpPr/>
          <p:nvPr/>
        </p:nvSpPr>
        <p:spPr>
          <a:xfrm>
            <a:off x="6217920" y="1371600"/>
            <a:ext cx="2514600" cy="39319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6446520" y="1600200"/>
            <a:ext cx="731520" cy="731520"/>
          </a:xfrm>
          <a:prstGeom prst="ellipse">
            <a:avLst/>
          </a:prstGeom>
          <a:solidFill>
            <a:srgbClr val="00D10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7830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4652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Produção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44652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PDBPRD_DW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446520" y="33832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Repositório primário para relatórios, APIs e painéis de BI; alterações planejadas, automatizadas e só após validação.</a:t>
            </a:r>
            <a:endParaRPr lang="en-US" sz="1400" dirty="0"/>
          </a:p>
        </p:txBody>
      </p:sp>
      <p:sp>
        <p:nvSpPr>
          <p:cNvPr id="21" name="Ambiente STG"/>
          <p:cNvSpPr/>
          <p:nvPr/>
        </p:nvSpPr>
        <p:spPr>
          <a:xfrm>
            <a:off x="8915400" y="1371600"/>
            <a:ext cx="2514600" cy="39319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22" name="Shape 17"/>
          <p:cNvSpPr/>
          <p:nvPr/>
        </p:nvSpPr>
        <p:spPr>
          <a:xfrm>
            <a:off x="9144000" y="1600200"/>
            <a:ext cx="731520" cy="731520"/>
          </a:xfrm>
          <a:prstGeom prst="ellipse">
            <a:avLst/>
          </a:prstGeom>
          <a:solidFill>
            <a:srgbClr val="003C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178308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14400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Stage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914400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PDBPRD_STGDW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9144000" y="33832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Área de Staging: histórico das ingestões e apoio a projetos fora do padrão medalhão (ex.: Talend e Olinda).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5" type="title" hasCustomPrompt="1"/>
          </p:nvPr>
        </p:nvSpPr>
        <p:spPr>
          <a:xfrm>
            <a:off x="82296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chemeClr val="tx1"/>
                </a:solidFill>
              </a:rPr>
              <a:t>Data Warehouse e modelagem dimensional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O DW organiza os dados sob a ótica dimensional, em Star Schema, para fornecer dados consolidados a relatórios, dashboards e análises.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645920" y="2788920"/>
            <a:ext cx="1737360" cy="10058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3383280" y="2788920"/>
            <a:ext cx="1737360" cy="10058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1645920" y="3794760"/>
            <a:ext cx="1737360" cy="10058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3794760"/>
            <a:ext cx="1737360" cy="10058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8" name="Tabela fato"/>
          <p:cNvSpPr/>
          <p:nvPr/>
        </p:nvSpPr>
        <p:spPr>
          <a:xfrm>
            <a:off x="2560320" y="3383280"/>
            <a:ext cx="1645920" cy="82296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560320" y="3383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métricas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487168"/>
            <a:ext cx="1463040" cy="603504"/>
          </a:xfrm>
          <a:prstGeom prst="roundRect">
            <a:avLst>
              <a:gd name="adj" fmla="val 50000"/>
            </a:avLst>
          </a:prstGeom>
          <a:solidFill>
            <a:srgbClr val="FFD0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2487168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Tempo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2487168"/>
            <a:ext cx="1463040" cy="603504"/>
          </a:xfrm>
          <a:prstGeom prst="roundRect">
            <a:avLst>
              <a:gd name="adj" fmla="val 50000"/>
            </a:avLst>
          </a:prstGeom>
          <a:solidFill>
            <a:srgbClr val="00D1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89120" y="2487168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Aluno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498848"/>
            <a:ext cx="1463040" cy="60350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498848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Dimensão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0" y="4498848"/>
            <a:ext cx="1463040" cy="60350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89120" y="4498848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Dimensão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57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Dimensões padronizadas (contexto) reutilizadas pelas tabelas fato (métricas).</a:t>
            </a:r>
            <a:endParaRPr lang="en-US" sz="1200" dirty="0"/>
          </a:p>
        </p:txBody>
      </p:sp>
      <p:sp>
        <p:nvSpPr>
          <p:cNvPr id="19" name="Esquemas"/>
          <p:cNvSpPr/>
          <p:nvPr/>
        </p:nvSpPr>
        <p:spPr>
          <a:xfrm>
            <a:off x="6400800" y="1234440"/>
            <a:ext cx="502920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2940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Esquemas documentados (Kimball e Inmon)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17830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Star Schema (Modelo Estrela) – o mais difundido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Snowflake Schema (Floco de Neve)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Fact Constellation (Constelação de Fatos)</a:t>
            </a:r>
            <a:endParaRPr lang="en-US" sz="1300" dirty="0"/>
          </a:p>
        </p:txBody>
      </p:sp>
      <p:sp>
        <p:nvSpPr>
          <p:cNvPr id="22" name="Tipos de fato"/>
          <p:cNvSpPr/>
          <p:nvPr/>
        </p:nvSpPr>
        <p:spPr>
          <a:xfrm>
            <a:off x="6400800" y="3246120"/>
            <a:ext cx="502920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2940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Seis tipos de tabelas fato padrão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29400" y="3840480"/>
            <a:ext cx="219456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29400" y="38404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Transacional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61120" y="3840480"/>
            <a:ext cx="219456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61120" y="38404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Agregada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29400" y="4389120"/>
            <a:ext cx="219456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29400" y="43891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Consolidada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961120" y="4389120"/>
            <a:ext cx="219456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961120" y="43891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Snapshot periódico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29400" y="4937760"/>
            <a:ext cx="219456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29400" y="49377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Snapshot acumulado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61120" y="4937760"/>
            <a:ext cx="219456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961120" y="49377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Fato sem fato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5" type="title" hasCustomPrompt="1"/>
          </p:nvPr>
        </p:nvSpPr>
        <p:spPr>
          <a:xfrm>
            <a:off x="82296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chemeClr val="tx1"/>
                </a:solidFill>
              </a:rPr>
              <a:t>Pipeline de ETL/ELT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Conjunto automatizado de atividades: extração das fontes, transformações, orquestração e agendamento das execuções.</a:t>
            </a:r>
            <a:endParaRPr lang="en-US" sz="1500" dirty="0"/>
          </a:p>
        </p:txBody>
      </p:sp>
      <p:sp>
        <p:nvSpPr>
          <p:cNvPr id="4" name="Pipeline GitLab"/>
          <p:cNvSpPr/>
          <p:nvPr/>
        </p:nvSpPr>
        <p:spPr>
          <a:xfrm>
            <a:off x="822960" y="1828800"/>
            <a:ext cx="1828800" cy="20116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965960"/>
            <a:ext cx="731520" cy="731520"/>
          </a:xfrm>
          <a:prstGeom prst="ellipse">
            <a:avLst/>
          </a:prstGeom>
          <a:solidFill>
            <a:srgbClr val="FF031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148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GitLab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Versionamento de DAGs e scripts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79192" y="2697480"/>
            <a:ext cx="283464" cy="292608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10" name="Pipeline GitLab CI"/>
          <p:cNvSpPr/>
          <p:nvPr/>
        </p:nvSpPr>
        <p:spPr>
          <a:xfrm>
            <a:off x="2990088" y="1828800"/>
            <a:ext cx="1828800" cy="20116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3538728" y="1965960"/>
            <a:ext cx="731520" cy="731520"/>
          </a:xfrm>
          <a:prstGeom prst="ellipse">
            <a:avLst/>
          </a:prstGeom>
          <a:solidFill>
            <a:srgbClr val="FFD0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21488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81528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GitLab CI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081528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Integração contínua e promoção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846320" y="2697480"/>
            <a:ext cx="283464" cy="292608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16" name="Pipeline Apache Airflow"/>
          <p:cNvSpPr/>
          <p:nvPr/>
        </p:nvSpPr>
        <p:spPr>
          <a:xfrm>
            <a:off x="5157216" y="1828800"/>
            <a:ext cx="1828800" cy="20116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7" name="Shape 13"/>
          <p:cNvSpPr/>
          <p:nvPr/>
        </p:nvSpPr>
        <p:spPr>
          <a:xfrm>
            <a:off x="5705856" y="1965960"/>
            <a:ext cx="731520" cy="731520"/>
          </a:xfrm>
          <a:prstGeom prst="ellipse">
            <a:avLst/>
          </a:prstGeom>
          <a:solidFill>
            <a:srgbClr val="00D1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21488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48656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Apache Airflow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248656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Orquestração, agendamento e logs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013448" y="2697480"/>
            <a:ext cx="283464" cy="292608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22" name="Pipeline Oracle Exadata"/>
          <p:cNvSpPr/>
          <p:nvPr/>
        </p:nvSpPr>
        <p:spPr>
          <a:xfrm>
            <a:off x="7324344" y="1828800"/>
            <a:ext cx="1828800" cy="20116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3" name="Shape 18"/>
          <p:cNvSpPr/>
          <p:nvPr/>
        </p:nvSpPr>
        <p:spPr>
          <a:xfrm>
            <a:off x="7872984" y="1965960"/>
            <a:ext cx="731520" cy="731520"/>
          </a:xfrm>
          <a:prstGeom prst="ellipse">
            <a:avLst/>
          </a:prstGeom>
          <a:solidFill>
            <a:srgbClr val="003C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214884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15784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Oracle Exadata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415784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Data Warehouse (Star Schema)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9180576" y="2697480"/>
            <a:ext cx="283464" cy="292608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28" name="Pipeline Power BI"/>
          <p:cNvSpPr/>
          <p:nvPr/>
        </p:nvSpPr>
        <p:spPr>
          <a:xfrm>
            <a:off x="9491472" y="1828800"/>
            <a:ext cx="1828800" cy="20116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9" name="Shape 23"/>
          <p:cNvSpPr/>
          <p:nvPr/>
        </p:nvSpPr>
        <p:spPr>
          <a:xfrm>
            <a:off x="10040112" y="1965960"/>
            <a:ext cx="731520" cy="731520"/>
          </a:xfrm>
          <a:prstGeom prst="ellipse">
            <a:avLst/>
          </a:prstGeom>
          <a:solidFill>
            <a:srgbClr val="002AA0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2992" y="214884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582912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Power BI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582912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Painéis e consumo final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822960" y="39319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Tarefas escritas em Python; arquivos .py transferidos via SFTP (WinSCP/FileZilla) aos ambientes DSV, HMG e PRD.</a:t>
            </a:r>
            <a:endParaRPr lang="en-US" sz="1200" dirty="0"/>
          </a:p>
        </p:txBody>
      </p:sp>
      <p:sp>
        <p:nvSpPr>
          <p:cNvPr id="34" name="Fluxo de trabalho"/>
          <p:cNvSpPr/>
          <p:nvPr/>
        </p:nvSpPr>
        <p:spPr>
          <a:xfrm>
            <a:off x="822960" y="4434840"/>
            <a:ext cx="10607040" cy="1325880"/>
          </a:xfrm>
          <a:prstGeom prst="roundRect">
            <a:avLst>
              <a:gd name="adj" fmla="val 8276"/>
            </a:avLst>
          </a:prstGeom>
          <a:solidFill>
            <a:schemeClr val="tx1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1097280" y="4526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Fluxo de trabalho (BPM)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1097280" y="4937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Área Negocial: entendimento do negócio, requisitos e liberação de acesso  →  Torre de BI define o tipo de REQ: ingestão/criação de modelo dimensional, correção/ajuste de modelo ou consulta Olinda  →  apresentação em painel Power BI.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5" type="title" hasCustomPrompt="1"/>
          </p:nvPr>
        </p:nvSpPr>
        <p:spPr>
          <a:xfrm>
            <a:off x="82296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chemeClr val="tx1"/>
                </a:solidFill>
              </a:rPr>
              <a:t>Sequência operacional da equipe de dados</a:t>
            </a:r>
            <a:endParaRPr lang="en-US" sz="3200" dirty="0"/>
          </a:p>
        </p:txBody>
      </p:sp>
      <p:sp>
        <p:nvSpPr>
          <p:cNvPr id="3" name="Etapa 1"/>
          <p:cNvSpPr/>
          <p:nvPr/>
        </p:nvSpPr>
        <p:spPr>
          <a:xfrm>
            <a:off x="822960" y="1325880"/>
            <a:ext cx="3383280" cy="44348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1508760"/>
            <a:ext cx="640080" cy="640080"/>
          </a:xfrm>
          <a:prstGeom prst="ellipse">
            <a:avLst/>
          </a:prstGeom>
          <a:solidFill>
            <a:srgbClr val="FF03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508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Requisição, GitLab e banco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331720"/>
            <a:ext cx="2971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Atender a REQ no BMC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Nova branch develop_&lt;Projeto&gt; a partir da master no projeto medalhao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Copiar templates: dags, olinda, scriptsqls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Criar schemas BRZ/SLV/GLD_&lt;Projeto&gt; em DSV, HMG e PRD</a:t>
            </a:r>
            <a:endParaRPr lang="en-US" sz="1400" dirty="0"/>
          </a:p>
        </p:txBody>
      </p:sp>
      <p:sp>
        <p:nvSpPr>
          <p:cNvPr id="8" name="Etapa 2"/>
          <p:cNvSpPr/>
          <p:nvPr/>
        </p:nvSpPr>
        <p:spPr>
          <a:xfrm>
            <a:off x="4434840" y="1325880"/>
            <a:ext cx="3383280" cy="44348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508760"/>
            <a:ext cx="640080" cy="640080"/>
          </a:xfrm>
          <a:prstGeom prst="ellipse">
            <a:avLst/>
          </a:prstGeom>
          <a:solidFill>
            <a:srgbClr val="FFD0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508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Python (VSCode, DSV)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331720"/>
            <a:ext cx="2971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Copiar templates Bronze/Silver/Gold para as DAGs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Bronze: carga no schema BRZ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Silver: modelo relacional + carga SLV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Gold: modelo dimensional + carga GLD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Salvar na branch develop</a:t>
            </a:r>
            <a:endParaRPr lang="en-US" sz="1400" dirty="0"/>
          </a:p>
        </p:txBody>
      </p:sp>
      <p:sp>
        <p:nvSpPr>
          <p:cNvPr id="13" name="Etapa 3"/>
          <p:cNvSpPr/>
          <p:nvPr/>
        </p:nvSpPr>
        <p:spPr>
          <a:xfrm>
            <a:off x="8046720" y="1325880"/>
            <a:ext cx="3383280" cy="44348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8275320" y="1508760"/>
            <a:ext cx="640080" cy="640080"/>
          </a:xfrm>
          <a:prstGeom prst="ellipse">
            <a:avLst/>
          </a:prstGeom>
          <a:solidFill>
            <a:srgbClr val="00D1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7532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1508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Airflow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331720"/>
            <a:ext cx="2971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Copiar .py para o servidor Linux do Airflow (DSV, HMG, PRD) via WinSCP/FileZilla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Agendar e executar as DAGs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Testar o pipeline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5" type="title" hasCustomPrompt="1"/>
          </p:nvPr>
        </p:nvSpPr>
        <p:spPr>
          <a:xfrm>
            <a:off x="82296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chemeClr val="tx1"/>
                </a:solidFill>
              </a:rPr>
              <a:t>Arquitetura medalhão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Modelo adotado pela CGDA para organizar os dados em camadas de qualidade, com refinamento progressivo de dados brutos a dados qualificados para análise.</a:t>
            </a:r>
            <a:endParaRPr lang="en-US" sz="1500" dirty="0"/>
          </a:p>
        </p:txBody>
      </p:sp>
      <p:sp>
        <p:nvSpPr>
          <p:cNvPr id="4" name="Camada BRONZE"/>
          <p:cNvSpPr/>
          <p:nvPr/>
        </p:nvSpPr>
        <p:spPr>
          <a:xfrm>
            <a:off x="822960" y="2057400"/>
            <a:ext cx="3291840" cy="2834640"/>
          </a:xfrm>
          <a:prstGeom prst="roundRect">
            <a:avLst>
              <a:gd name="adj" fmla="val 4839"/>
            </a:avLst>
          </a:prstGeom>
          <a:solidFill>
            <a:srgbClr val="F6E3D0"/>
          </a:solidFill>
          <a:ln w="25400">
            <a:solidFill>
              <a:srgbClr val="C97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240280"/>
            <a:ext cx="822960" cy="822960"/>
          </a:xfrm>
          <a:prstGeom prst="ellipse">
            <a:avLst/>
          </a:prstGeom>
          <a:solidFill>
            <a:srgbClr val="C978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BRZ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22402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9782F"/>
                </a:solidFill>
              </a:rPr>
              <a:t>BRONZE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2461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Ingestão e armazenamento bruto. Preserva integridade e fidelidade dos dados de origem: APIs, CSV, planilhas, bancos relacionais.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42232" y="3337560"/>
            <a:ext cx="310896" cy="292608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10" name="Camada PRATA"/>
          <p:cNvSpPr/>
          <p:nvPr/>
        </p:nvSpPr>
        <p:spPr>
          <a:xfrm>
            <a:off x="4480560" y="2057400"/>
            <a:ext cx="3291840" cy="2834640"/>
          </a:xfrm>
          <a:prstGeom prst="roundRect">
            <a:avLst>
              <a:gd name="adj" fmla="val 4839"/>
            </a:avLst>
          </a:prstGeom>
          <a:solidFill>
            <a:srgbClr val="E6EAF0"/>
          </a:solidFill>
          <a:ln w="25400">
            <a:solidFill>
              <a:srgbClr val="6B7A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2240280"/>
            <a:ext cx="822960" cy="822960"/>
          </a:xfrm>
          <a:prstGeom prst="ellipse">
            <a:avLst/>
          </a:prstGeom>
          <a:solidFill>
            <a:srgbClr val="6B7A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0916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SLV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22402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6B7A90"/>
                </a:solidFill>
              </a:rPr>
              <a:t>PRATA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32461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Refinamento, padronização e tratamento: limpeza, normalização e integração; elimina duplicidades e inconsistências.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99832" y="3337560"/>
            <a:ext cx="310896" cy="292608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16" name="Camada OURO"/>
          <p:cNvSpPr/>
          <p:nvPr/>
        </p:nvSpPr>
        <p:spPr>
          <a:xfrm>
            <a:off x="8138160" y="2057400"/>
            <a:ext cx="3291840" cy="2834640"/>
          </a:xfrm>
          <a:prstGeom prst="roundRect">
            <a:avLst>
              <a:gd name="adj" fmla="val 4839"/>
            </a:avLst>
          </a:prstGeom>
          <a:solidFill>
            <a:srgbClr val="FFF3C4"/>
          </a:solidFill>
          <a:ln w="25400">
            <a:solidFill>
              <a:srgbClr val="B8900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2240280"/>
            <a:ext cx="822960" cy="822960"/>
          </a:xfrm>
          <a:prstGeom prst="ellipse">
            <a:avLst/>
          </a:prstGeom>
          <a:solidFill>
            <a:srgbClr val="B8900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6676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GLD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372600" y="22402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B8900A"/>
                </a:solidFill>
              </a:rPr>
              <a:t>OURO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32461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Dados modelados de forma analítica (dimensional), voltados ao consumo por BI, relatórios e serviços de dados.</a:t>
            </a:r>
            <a:endParaRPr lang="en-US" sz="1300" dirty="0"/>
          </a:p>
        </p:txBody>
      </p:sp>
      <p:sp>
        <p:nvSpPr>
          <p:cNvPr id="21" name="Nomenclatura"/>
          <p:cNvSpPr/>
          <p:nvPr/>
        </p:nvSpPr>
        <p:spPr>
          <a:xfrm>
            <a:off x="822960" y="5120640"/>
            <a:ext cx="106070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51560" y="5120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Nomenclatura: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schemas BRZ/SLV/GLD_&lt;Nome_do_Projeto&gt;; pastas versionadas dags, olinda e scriptsqls.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5" type="title" hasCustomPrompt="1"/>
          </p:nvPr>
        </p:nvSpPr>
        <p:spPr>
          <a:xfrm>
            <a:off x="82296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chemeClr val="tx1"/>
                </a:solidFill>
              </a:rPr>
              <a:t>Governança de dados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Metodologia formal que padroniza coleta, tratamento e armazenamento, assegurando qualidade, confiabilidade e rastreabilidade.</a:t>
            </a:r>
            <a:endParaRPr lang="en-US" sz="1500" dirty="0"/>
          </a:p>
        </p:txBody>
      </p:sp>
      <p:sp>
        <p:nvSpPr>
          <p:cNvPr id="4" name="Diretrizes e qualidade"/>
          <p:cNvSpPr/>
          <p:nvPr/>
        </p:nvSpPr>
        <p:spPr>
          <a:xfrm>
            <a:off x="822960" y="1828800"/>
            <a:ext cx="33832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011680"/>
            <a:ext cx="594360" cy="594360"/>
          </a:xfrm>
          <a:prstGeom prst="ellipse">
            <a:avLst/>
          </a:prstGeom>
          <a:solidFill>
            <a:srgbClr val="FF031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150" y="216027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Diretrizes e qualidade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27432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Diretrizes para coleta, processamento e análise; integridade, qualidade e proteção dos dados; aderência legal e regulatória.</a:t>
            </a:r>
            <a:endParaRPr lang="en-US" sz="1400" dirty="0"/>
          </a:p>
        </p:txBody>
      </p:sp>
      <p:sp>
        <p:nvSpPr>
          <p:cNvPr id="9" name="Versionamento"/>
          <p:cNvSpPr/>
          <p:nvPr/>
        </p:nvSpPr>
        <p:spPr>
          <a:xfrm>
            <a:off x="4434840" y="1828800"/>
            <a:ext cx="33832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2011680"/>
            <a:ext cx="594360" cy="594360"/>
          </a:xfrm>
          <a:prstGeom prst="ellipse">
            <a:avLst/>
          </a:prstGeom>
          <a:solidFill>
            <a:srgbClr val="FFD0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030" y="216027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Versionamento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27432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Scripts SQL, Python e PBIX no GitLab: branch master para artefatos estáveis, develop para os em construção.</a:t>
            </a:r>
            <a:endParaRPr lang="en-US" sz="1400" dirty="0"/>
          </a:p>
        </p:txBody>
      </p:sp>
      <p:sp>
        <p:nvSpPr>
          <p:cNvPr id="14" name="Segregação de ambientes"/>
          <p:cNvSpPr/>
          <p:nvPr/>
        </p:nvSpPr>
        <p:spPr>
          <a:xfrm>
            <a:off x="8046720" y="1828800"/>
            <a:ext cx="33832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8275320" y="2011680"/>
            <a:ext cx="594360" cy="594360"/>
          </a:xfrm>
          <a:prstGeom prst="ellipse">
            <a:avLst/>
          </a:prstGeom>
          <a:solidFill>
            <a:srgbClr val="00D1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216027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0684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Segregação de ambientes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7432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DSV, HMG e PRD com promoção controlada por implantações automatizadas.</a:t>
            </a:r>
            <a:endParaRPr lang="en-US" sz="1400" dirty="0"/>
          </a:p>
        </p:txBody>
      </p:sp>
      <p:sp>
        <p:nvSpPr>
          <p:cNvPr id="19" name="Perfis"/>
          <p:cNvSpPr/>
          <p:nvPr/>
        </p:nvSpPr>
        <p:spPr>
          <a:xfrm>
            <a:off x="822960" y="4343400"/>
            <a:ext cx="10607040" cy="1463040"/>
          </a:xfrm>
          <a:prstGeom prst="roundRect">
            <a:avLst>
              <a:gd name="adj" fmla="val 7500"/>
            </a:avLst>
          </a:prstGeom>
          <a:solidFill>
            <a:schemeClr val="tx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1097280" y="44348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Camada de Pessoas · perfis e responsabilidades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1097280" y="489204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Construção do pipeline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Esp. em Adm. de Dados · Cientista de Dados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3657600" y="489204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Modelagem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Engenheiro de IA · Arquiteto de Dados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6217920" y="489204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Métricas e painéis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Analista Low-Code/No-Code · Analista de BI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8778240" y="489204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Gestão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Líder de Equipe · Scrum Master · Líder de Projeto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5" type="title" hasCustomPrompt="1"/>
          </p:nvPr>
        </p:nvSpPr>
        <p:spPr>
          <a:xfrm>
            <a:off x="82296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chemeClr val="tx1"/>
                </a:solidFill>
              </a:rPr>
              <a:t>Descrição das tecnologias</a:t>
            </a:r>
            <a:endParaRPr lang="en-US" sz="3200" dirty="0"/>
          </a:p>
        </p:txBody>
      </p:sp>
      <p:sp>
        <p:nvSpPr>
          <p:cNvPr id="3" name="Tecnologia GitLab"/>
          <p:cNvSpPr/>
          <p:nvPr/>
        </p:nvSpPr>
        <p:spPr>
          <a:xfrm>
            <a:off x="822960" y="1280160"/>
            <a:ext cx="34290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463040"/>
            <a:ext cx="548640" cy="548640"/>
          </a:xfrm>
          <a:prstGeom prst="ellipse">
            <a:avLst/>
          </a:prstGeom>
          <a:solidFill>
            <a:srgbClr val="FF031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002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4630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GitLab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20299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Controle de versão: master estável, develop em construção; projeto medalhao.</a:t>
            </a:r>
            <a:endParaRPr lang="en-US" sz="1200" dirty="0"/>
          </a:p>
        </p:txBody>
      </p:sp>
      <p:sp>
        <p:nvSpPr>
          <p:cNvPr id="8" name="Tecnologia GitLab CI"/>
          <p:cNvSpPr/>
          <p:nvPr/>
        </p:nvSpPr>
        <p:spPr>
          <a:xfrm>
            <a:off x="4416552" y="1280160"/>
            <a:ext cx="34290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4599432" y="1463040"/>
            <a:ext cx="548640" cy="548640"/>
          </a:xfrm>
          <a:prstGeom prst="ellipse">
            <a:avLst/>
          </a:prstGeom>
          <a:solidFill>
            <a:srgbClr val="FFD0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6002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85232" y="14630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GitLab CI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99432" y="20299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Automatiza validação e promoção entre ambientes (configuração a detalhar com o MEC).</a:t>
            </a:r>
            <a:endParaRPr lang="en-US" sz="1200" dirty="0"/>
          </a:p>
        </p:txBody>
      </p:sp>
      <p:sp>
        <p:nvSpPr>
          <p:cNvPr id="13" name="Tecnologia Apache Airflow"/>
          <p:cNvSpPr/>
          <p:nvPr/>
        </p:nvSpPr>
        <p:spPr>
          <a:xfrm>
            <a:off x="8010144" y="1280160"/>
            <a:ext cx="34290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8193024" y="1463040"/>
            <a:ext cx="548640" cy="548640"/>
          </a:xfrm>
          <a:prstGeom prst="ellipse">
            <a:avLst/>
          </a:prstGeom>
          <a:solidFill>
            <a:srgbClr val="00D10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16002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878824" y="14630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Apache Airflow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193024" y="20299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Orquestra DAGs em DSV, HMG e PRD; registra logs, tempos e falhas.</a:t>
            </a:r>
            <a:endParaRPr lang="en-US" sz="1200" dirty="0"/>
          </a:p>
        </p:txBody>
      </p:sp>
      <p:sp>
        <p:nvSpPr>
          <p:cNvPr id="18" name="Tecnologia Oracle Exadata DW"/>
          <p:cNvSpPr/>
          <p:nvPr/>
        </p:nvSpPr>
        <p:spPr>
          <a:xfrm>
            <a:off x="822960" y="2807208"/>
            <a:ext cx="34290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1005840" y="2990088"/>
            <a:ext cx="548640" cy="548640"/>
          </a:xfrm>
          <a:prstGeom prst="ellipse">
            <a:avLst/>
          </a:prstGeom>
          <a:solidFill>
            <a:srgbClr val="003C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12724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29900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Oracle Exadata DW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005840" y="355701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Repositório central em Star Schema; Stage, Bronze, Silver e Gold.</a:t>
            </a:r>
            <a:endParaRPr lang="en-US" sz="1200" dirty="0"/>
          </a:p>
        </p:txBody>
      </p:sp>
      <p:sp>
        <p:nvSpPr>
          <p:cNvPr id="23" name="Tecnologia Python"/>
          <p:cNvSpPr/>
          <p:nvPr/>
        </p:nvSpPr>
        <p:spPr>
          <a:xfrm>
            <a:off x="4416552" y="2807208"/>
            <a:ext cx="34290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4" name="Shape 18"/>
          <p:cNvSpPr/>
          <p:nvPr/>
        </p:nvSpPr>
        <p:spPr>
          <a:xfrm>
            <a:off x="4599432" y="2990088"/>
            <a:ext cx="548640" cy="548640"/>
          </a:xfrm>
          <a:prstGeom prst="ellipse">
            <a:avLst/>
          </a:prstGeom>
          <a:solidFill>
            <a:srgbClr val="002AA0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3127248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85232" y="29900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Python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599432" y="355701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Pipelines ETL/ELT com Pendulum, mec_utils, Pandas e bibliotecas do Airflow.</a:t>
            </a:r>
            <a:endParaRPr lang="en-US" sz="1200" dirty="0"/>
          </a:p>
        </p:txBody>
      </p:sp>
      <p:sp>
        <p:nvSpPr>
          <p:cNvPr id="28" name="Tecnologia Olinda"/>
          <p:cNvSpPr/>
          <p:nvPr/>
        </p:nvSpPr>
        <p:spPr>
          <a:xfrm>
            <a:off x="8010144" y="2807208"/>
            <a:ext cx="34290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9" name="Shape 22"/>
          <p:cNvSpPr/>
          <p:nvPr/>
        </p:nvSpPr>
        <p:spPr>
          <a:xfrm>
            <a:off x="8193024" y="2990088"/>
            <a:ext cx="548640" cy="548640"/>
          </a:xfrm>
          <a:prstGeom prst="ellipse">
            <a:avLst/>
          </a:prstGeom>
          <a:solidFill>
            <a:srgbClr val="FF031E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0184" y="3127248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878824" y="29900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Olinda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8193024" y="355701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Plataforma do BCB que expõe consultas SQL como APIs REST (JSON, XML, CSV).</a:t>
            </a:r>
            <a:endParaRPr lang="en-US" sz="1200" dirty="0"/>
          </a:p>
        </p:txBody>
      </p:sp>
      <p:sp>
        <p:nvSpPr>
          <p:cNvPr id="33" name="Tecnologia SFTP"/>
          <p:cNvSpPr/>
          <p:nvPr/>
        </p:nvSpPr>
        <p:spPr>
          <a:xfrm>
            <a:off x="822960" y="4334256"/>
            <a:ext cx="34290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34" name="Shape 26"/>
          <p:cNvSpPr/>
          <p:nvPr/>
        </p:nvSpPr>
        <p:spPr>
          <a:xfrm>
            <a:off x="1005840" y="4517136"/>
            <a:ext cx="548640" cy="548640"/>
          </a:xfrm>
          <a:prstGeom prst="ellipse">
            <a:avLst/>
          </a:prstGeom>
          <a:solidFill>
            <a:srgbClr val="FFD000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4654296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691640" y="451713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SFTP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1005840" y="508406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Transferência criptografada entre origens e ingestão; WinSCP e FileZilla.</a:t>
            </a:r>
            <a:endParaRPr lang="en-US" sz="1200" dirty="0"/>
          </a:p>
        </p:txBody>
      </p:sp>
      <p:sp>
        <p:nvSpPr>
          <p:cNvPr id="38" name="Tecnologia Power BI"/>
          <p:cNvSpPr/>
          <p:nvPr/>
        </p:nvSpPr>
        <p:spPr>
          <a:xfrm>
            <a:off x="4416552" y="4334256"/>
            <a:ext cx="34290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39" name="Shape 30"/>
          <p:cNvSpPr/>
          <p:nvPr/>
        </p:nvSpPr>
        <p:spPr>
          <a:xfrm>
            <a:off x="4599432" y="4517136"/>
            <a:ext cx="548640" cy="548640"/>
          </a:xfrm>
          <a:prstGeom prst="ellipse">
            <a:avLst/>
          </a:prstGeom>
          <a:solidFill>
            <a:srgbClr val="00D100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6592" y="4654296"/>
            <a:ext cx="274320" cy="27432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5285232" y="451713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Power BI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4599432" y="508406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Front-end dos painéis, alimentado pelas camadas Gold.</a:t>
            </a:r>
            <a:endParaRPr lang="en-US" sz="1200" dirty="0"/>
          </a:p>
        </p:txBody>
      </p:sp>
      <p:sp>
        <p:nvSpPr>
          <p:cNvPr id="43" name="Tecnologia Complementares"/>
          <p:cNvSpPr/>
          <p:nvPr/>
        </p:nvSpPr>
        <p:spPr>
          <a:xfrm>
            <a:off x="8010144" y="4334256"/>
            <a:ext cx="34290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4" name="Shape 34"/>
          <p:cNvSpPr/>
          <p:nvPr/>
        </p:nvSpPr>
        <p:spPr>
          <a:xfrm>
            <a:off x="8193024" y="4517136"/>
            <a:ext cx="548640" cy="548640"/>
          </a:xfrm>
          <a:prstGeom prst="ellipse">
            <a:avLst/>
          </a:prstGeom>
          <a:solidFill>
            <a:srgbClr val="003CFF"/>
          </a:solidFill>
          <a:ln/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0184" y="4654296"/>
            <a:ext cx="274320" cy="27432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8878824" y="451713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Complementares</a:t>
            </a:r>
            <a:endParaRPr lang="en-US" sz="1500" dirty="0"/>
          </a:p>
        </p:txBody>
      </p:sp>
      <p:sp>
        <p:nvSpPr>
          <p:cNvPr id="47" name="Text 36"/>
          <p:cNvSpPr txBox="1"/>
          <p:nvPr/>
        </p:nvSpPr>
        <p:spPr>
          <a:xfrm>
            <a:off x="8193024" y="508406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SharePoint, API Gateway, VSCode, DBeaver, GitHub Desktop, royal.ts.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5" type="title" hasCustomPrompt="1"/>
          </p:nvPr>
        </p:nvSpPr>
        <p:spPr>
          <a:xfrm>
            <a:off x="82296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chemeClr val="tx1"/>
                </a:solidFill>
              </a:rPr>
              <a:t>Condições atuais de acesso da equipe UFSC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Situação de acessos</a:t>
            </a:r>
            <a:endParaRPr lang="en-US" sz="1800" dirty="0"/>
          </a:p>
        </p:txBody>
      </p:sp>
      <p:sp>
        <p:nvSpPr>
          <p:cNvPr id="4" name="Acesso VPN do MEC"/>
          <p:cNvSpPr/>
          <p:nvPr/>
        </p:nvSpPr>
        <p:spPr>
          <a:xfrm>
            <a:off x="822960" y="1828800"/>
            <a:ext cx="512064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911096"/>
            <a:ext cx="457200" cy="457200"/>
          </a:xfrm>
          <a:prstGeom prst="ellipse">
            <a:avLst/>
          </a:prstGeom>
          <a:solidFill>
            <a:srgbClr val="00D1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025396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82880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VPN do MEC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26280" y="182880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chemeClr val="tx2"/>
                </a:solidFill>
              </a:rPr>
              <a:t>Concedido</a:t>
            </a:r>
            <a:endParaRPr lang="en-US" sz="1300" dirty="0"/>
          </a:p>
        </p:txBody>
      </p:sp>
      <p:sp>
        <p:nvSpPr>
          <p:cNvPr id="9" name="Acesso Oracle Data Warehouse"/>
          <p:cNvSpPr/>
          <p:nvPr/>
        </p:nvSpPr>
        <p:spPr>
          <a:xfrm>
            <a:off x="822960" y="2578608"/>
            <a:ext cx="512064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960120" y="2660904"/>
            <a:ext cx="457200" cy="457200"/>
          </a:xfrm>
          <a:prstGeom prst="ellipse">
            <a:avLst/>
          </a:prstGeom>
          <a:solidFill>
            <a:srgbClr val="00D1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2775204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00200" y="25786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Oracle Data Warehouse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578608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chemeClr val="tx2"/>
                </a:solidFill>
              </a:rPr>
              <a:t>Concedido</a:t>
            </a:r>
            <a:endParaRPr lang="en-US" sz="1300" dirty="0"/>
          </a:p>
        </p:txBody>
      </p:sp>
      <p:sp>
        <p:nvSpPr>
          <p:cNvPr id="14" name="Acesso GitLab (depósito de DAGs e scripts)"/>
          <p:cNvSpPr/>
          <p:nvPr/>
        </p:nvSpPr>
        <p:spPr>
          <a:xfrm>
            <a:off x="822960" y="3328416"/>
            <a:ext cx="512064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3410712"/>
            <a:ext cx="457200" cy="457200"/>
          </a:xfrm>
          <a:prstGeom prst="ellipse">
            <a:avLst/>
          </a:prstGeom>
          <a:solidFill>
            <a:srgbClr val="FF031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3525012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332841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GitLab (depósito de DAGs e scripts)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26280" y="332841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chemeClr val="accent4"/>
                </a:solidFill>
              </a:rPr>
              <a:t>Pendente</a:t>
            </a:r>
            <a:endParaRPr lang="en-US" sz="1300" dirty="0"/>
          </a:p>
        </p:txBody>
      </p:sp>
      <p:sp>
        <p:nvSpPr>
          <p:cNvPr id="19" name="Acesso Projeto Git das DAGs do Airflow"/>
          <p:cNvSpPr/>
          <p:nvPr/>
        </p:nvSpPr>
        <p:spPr>
          <a:xfrm>
            <a:off x="822960" y="4078224"/>
            <a:ext cx="512064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20" name="Shape 15"/>
          <p:cNvSpPr/>
          <p:nvPr/>
        </p:nvSpPr>
        <p:spPr>
          <a:xfrm>
            <a:off x="960120" y="4160520"/>
            <a:ext cx="457200" cy="457200"/>
          </a:xfrm>
          <a:prstGeom prst="ellipse">
            <a:avLst/>
          </a:prstGeom>
          <a:solidFill>
            <a:srgbClr val="FF031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" y="427482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407822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Projeto Git das DAGs do Airflow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526280" y="4078224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chemeClr val="accent4"/>
                </a:solidFill>
              </a:rPr>
              <a:t>Pendente</a:t>
            </a:r>
            <a:endParaRPr lang="en-US" sz="1300" dirty="0"/>
          </a:p>
        </p:txBody>
      </p:sp>
      <p:sp>
        <p:nvSpPr>
          <p:cNvPr id="24" name="Acesso GitLab CI"/>
          <p:cNvSpPr/>
          <p:nvPr/>
        </p:nvSpPr>
        <p:spPr>
          <a:xfrm>
            <a:off x="822960" y="4828032"/>
            <a:ext cx="512064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25" name="Shape 19"/>
          <p:cNvSpPr/>
          <p:nvPr/>
        </p:nvSpPr>
        <p:spPr>
          <a:xfrm>
            <a:off x="960120" y="4910328"/>
            <a:ext cx="457200" cy="457200"/>
          </a:xfrm>
          <a:prstGeom prst="ellipse">
            <a:avLst/>
          </a:prstGeom>
          <a:solidFill>
            <a:srgbClr val="FF031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" y="5024628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00200" y="482803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GitLab CI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482803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chemeClr val="accent4"/>
                </a:solidFill>
              </a:rPr>
              <a:t>Pendente</a:t>
            </a:r>
            <a:endParaRPr lang="en-US" sz="1300" dirty="0"/>
          </a:p>
        </p:txBody>
      </p:sp>
      <p:sp>
        <p:nvSpPr>
          <p:cNvPr id="29" name="Implicação"/>
          <p:cNvSpPr/>
          <p:nvPr/>
        </p:nvSpPr>
        <p:spPr>
          <a:xfrm>
            <a:off x="6400800" y="1280160"/>
            <a:ext cx="5029200" cy="3063240"/>
          </a:xfrm>
          <a:prstGeom prst="roundRect">
            <a:avLst>
              <a:gd name="adj" fmla="val 3582"/>
            </a:avLst>
          </a:prstGeom>
          <a:solidFill>
            <a:schemeClr val="tx1"/>
          </a:solidFill>
          <a:ln/>
        </p:spPr>
      </p:sp>
      <p:pic>
        <p:nvPicPr>
          <p:cNvPr id="30" name="Ilustração secure-server" descr="Ilustração: escudo de segurança protegendo servidor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4480560"/>
            <a:ext cx="2560320" cy="1676699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720840" y="1417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chemeClr val="accent3"/>
                </a:solidFill>
              </a:rPr>
              <a:t>O que já é possível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6720840" y="17830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Com VPN e acesso ao Oracle DW, a equipe já consegue inspecionar os schemas e os ambientes de banco de dados (DSV, HMG, PRD e Stage).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6720840" y="2743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chemeClr val="accent3"/>
                </a:solidFill>
              </a:rPr>
              <a:t>O que ainda falta</a:t>
            </a:r>
            <a:endParaRPr lang="en-US" sz="1700" dirty="0"/>
          </a:p>
        </p:txBody>
      </p:sp>
      <p:sp>
        <p:nvSpPr>
          <p:cNvPr id="34" name="Text 26"/>
          <p:cNvSpPr txBox="1"/>
          <p:nvPr/>
        </p:nvSpPr>
        <p:spPr>
          <a:xfrm>
            <a:off x="6720840" y="310896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Integrar-se ao fluxo de versionamento e integração contínua da CGDA/STIC, que depende dos acessos ao GitLab, ao projeto das DAGs e ao GitLab CI.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5" type="title" hasCustomPrompt="1"/>
          </p:nvPr>
        </p:nvSpPr>
        <p:spPr>
          <a:xfrm>
            <a:off x="82296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chemeClr val="tx1"/>
                </a:solidFill>
              </a:rPr>
              <a:t>Próximos passos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737360" y="1965960"/>
            <a:ext cx="877824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00200" y="1463040"/>
            <a:ext cx="1005840" cy="10058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5" name="Passo 1 círculo"/>
          <p:cNvSpPr/>
          <p:nvPr/>
        </p:nvSpPr>
        <p:spPr>
          <a:xfrm>
            <a:off x="1645920" y="1508760"/>
            <a:ext cx="914400" cy="914400"/>
          </a:xfrm>
          <a:prstGeom prst="ellipse">
            <a:avLst/>
          </a:prstGeom>
          <a:solidFill>
            <a:srgbClr val="FF031E"/>
          </a:solidFill>
          <a:ln/>
        </p:spPr>
      </p:sp>
      <p:pic>
        <p:nvPicPr>
          <p:cNvPr id="6" name="Passo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1737360"/>
            <a:ext cx="457200" cy="457200"/>
          </a:xfrm>
          <a:prstGeom prst="rect">
            <a:avLst/>
          </a:prstGeom>
        </p:spPr>
      </p:pic>
      <p:sp>
        <p:nvSpPr>
          <p:cNvPr id="7" name="Passo 1 cartão"/>
          <p:cNvSpPr/>
          <p:nvPr/>
        </p:nvSpPr>
        <p:spPr>
          <a:xfrm>
            <a:off x="822960" y="274320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0584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PASSO 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3200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Acesso ao GitLab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40690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Para depósito de novas DAGs e scripts Python no padrão do MEC.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97680" y="1463040"/>
            <a:ext cx="1005840" cy="10058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2" name="Passo 2 círculo"/>
          <p:cNvSpPr/>
          <p:nvPr/>
        </p:nvSpPr>
        <p:spPr>
          <a:xfrm>
            <a:off x="4343400" y="1508760"/>
            <a:ext cx="914400" cy="914400"/>
          </a:xfrm>
          <a:prstGeom prst="ellipse">
            <a:avLst/>
          </a:prstGeom>
          <a:solidFill>
            <a:srgbClr val="FFD000"/>
          </a:solidFill>
          <a:ln/>
        </p:spPr>
      </p:sp>
      <p:pic>
        <p:nvPicPr>
          <p:cNvPr id="13" name="Passo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37360"/>
            <a:ext cx="457200" cy="457200"/>
          </a:xfrm>
          <a:prstGeom prst="rect">
            <a:avLst/>
          </a:prstGeom>
        </p:spPr>
      </p:pic>
      <p:sp>
        <p:nvSpPr>
          <p:cNvPr id="14" name="Passo 2 cartão"/>
          <p:cNvSpPr/>
          <p:nvPr/>
        </p:nvSpPr>
        <p:spPr>
          <a:xfrm>
            <a:off x="3520440" y="274320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70332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PASSO 2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703320" y="3200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Acesso ao projeto Git e GitLab CI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3703320" y="40690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Integração ao fluxo de versionamento e CI da CGDA/STIC.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995160" y="1463040"/>
            <a:ext cx="1005840" cy="10058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9" name="Passo 3 círculo"/>
          <p:cNvSpPr/>
          <p:nvPr/>
        </p:nvSpPr>
        <p:spPr>
          <a:xfrm>
            <a:off x="7040880" y="1508760"/>
            <a:ext cx="914400" cy="914400"/>
          </a:xfrm>
          <a:prstGeom prst="ellipse">
            <a:avLst/>
          </a:prstGeom>
          <a:solidFill>
            <a:srgbClr val="00D100"/>
          </a:solidFill>
          <a:ln/>
        </p:spPr>
      </p:sp>
      <p:pic>
        <p:nvPicPr>
          <p:cNvPr id="20" name="Passo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737360"/>
            <a:ext cx="457200" cy="457200"/>
          </a:xfrm>
          <a:prstGeom prst="rect">
            <a:avLst/>
          </a:prstGeom>
        </p:spPr>
      </p:pic>
      <p:sp>
        <p:nvSpPr>
          <p:cNvPr id="21" name="Passo 3 cartão"/>
          <p:cNvSpPr/>
          <p:nvPr/>
        </p:nvSpPr>
        <p:spPr>
          <a:xfrm>
            <a:off x="6217920" y="274320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640080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PASSO 3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400800" y="3200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Definir a forma de trabalho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6400800" y="40690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Reuniões com o MEC: repositório separado ou repositório único com Merge Requests.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9692640" y="1463040"/>
            <a:ext cx="1005840" cy="10058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6" name="Passo 4 círculo"/>
          <p:cNvSpPr/>
          <p:nvPr/>
        </p:nvSpPr>
        <p:spPr>
          <a:xfrm>
            <a:off x="9738360" y="1508760"/>
            <a:ext cx="914400" cy="914400"/>
          </a:xfrm>
          <a:prstGeom prst="ellipse">
            <a:avLst/>
          </a:prstGeom>
          <a:solidFill>
            <a:srgbClr val="003CFF"/>
          </a:solidFill>
          <a:ln/>
        </p:spPr>
      </p:sp>
      <p:pic>
        <p:nvPicPr>
          <p:cNvPr id="27" name="Passo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1737360"/>
            <a:ext cx="457200" cy="457200"/>
          </a:xfrm>
          <a:prstGeom prst="rect">
            <a:avLst/>
          </a:prstGeom>
        </p:spPr>
      </p:pic>
      <p:sp>
        <p:nvSpPr>
          <p:cNvPr id="28" name="Passo 4 cartão"/>
          <p:cNvSpPr/>
          <p:nvPr/>
        </p:nvSpPr>
        <p:spPr>
          <a:xfrm>
            <a:off x="8915400" y="274320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909828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PASSO 4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9098280" y="3200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Incorporação ao fluxo operacional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9098280" y="40690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Branches de desenvolvimento, schemas Bronze/Silver/Gold, agendamento e teste das DAGs.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822960" y="5486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A definição do modelo de trabalho condicionará a organização dos artefatos, a estratégia de branches e a promoção de código entre ambientes.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5" type="title" hasCustomPrompt="1"/>
          </p:nvPr>
        </p:nvSpPr>
        <p:spPr>
          <a:xfrm>
            <a:off x="822960" y="365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chemeClr val="tx1"/>
                </a:solidFill>
              </a:rPr>
              <a:t>Referências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74066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APACHE AIRFLOW. Apache Airflow Documentation. Disponível em: https://airflow.apache.org/docs/.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CGDA. Metodologia de Administração de Dados: Anexo – Modelagem de Dados Dimensional. Brasília: MEC, 2022.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CGDA. Fluxo do Processo de Dados – Equipe de Dados. Brasília: MEC, 2025.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CGDA. Metodologia de Dados. Brasília: MEC, 2026a.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CGDA. Pipeline para Ingestão de Dados – Landing Zone. Brasília: MEC, 2026b.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GITLAB. GitLab Documentation. Disponível em: https://docs.gitlab.com/.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KIMBALL, R.; ROSS, M. The Data Warehouse Toolkit. 3. ed. Indianapolis: Wiley, 2013.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MICROSOFT. Power BI Documentation. Disponível em: https://learn.microsoft.com/power-bi/.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ORACLE. Oracle Exadata Database Machine Documentation, 2026a; Oracle Database Documentation, 2026b.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PYTHON SOFTWARE FOUNDATION. Python Documentation. Disponível em: https://docs.python.org/3/.</a:t>
            </a:r>
            <a:endParaRPr lang="en-US" sz="1200" dirty="0"/>
          </a:p>
        </p:txBody>
      </p:sp>
      <p:pic>
        <p:nvPicPr>
          <p:cNvPr id="4" name="Ilustração organizing-projects" descr="Ilustração: pessoa organizando document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2103120"/>
            <a:ext cx="2834640" cy="21122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55778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Acessos em 30 jun. 2026.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822960" y="182880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i="1" dirty="0">
                <a:solidFill>
                  <a:schemeClr val="bg1"/>
                </a:solidFill>
              </a:rPr>
              <a:t>Obrigado</a:t>
            </a:r>
            <a:endParaRPr lang="en-US" sz="4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822960" y="39319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Encaminhe-se para ciência e providências cabíveis.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937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bg1"/>
                </a:solidFill>
              </a:rPr>
              <a:t>FERNANDO RICHARTZ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Coordenação Geral do TED nº 16748/26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49377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bg1"/>
                </a:solidFill>
              </a:rPr>
              <a:t>SIDNEI RODRIGUES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Coordenação da Meta 2 do TED nº 16748/26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C Governo do Brasil">
  <a:themeElements>
    <a:clrScheme name="MEC Governo do Brasil">
      <a:dk1>
        <a:srgbClr val="002AA0"/>
      </a:dk1>
      <a:lt1>
        <a:srgbClr val="FFFFFF"/>
      </a:lt1>
      <a:dk2>
        <a:srgbClr val="003CFF"/>
      </a:dk2>
      <a:lt2>
        <a:srgbClr val="EEF2FF"/>
      </a:lt2>
      <a:accent1>
        <a:srgbClr val="003CFF"/>
      </a:accent1>
      <a:accent2>
        <a:srgbClr val="00D100"/>
      </a:accent2>
      <a:accent3>
        <a:srgbClr val="FFD000"/>
      </a:accent3>
      <a:accent4>
        <a:srgbClr val="FF031E"/>
      </a:accent4>
      <a:accent5>
        <a:srgbClr val="002AA0"/>
      </a:accent5>
      <a:accent6>
        <a:srgbClr val="5A6B8C"/>
      </a:accent6>
      <a:hlink>
        <a:srgbClr val="003CFF"/>
      </a:hlink>
      <a:folHlink>
        <a:srgbClr val="002AA0"/>
      </a:folHlink>
    </a:clrScheme>
    <a:fontScheme name="MEC Governo do Brasi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Ministério da Educação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Diagnóstico inicial da arquitetura de dados MEC (AS IS)</dc:title>
  <dc:subject>PptxGenJS Presentation</dc:subject>
  <dc:creator>UFSC – Equipe Técnica Meta 2</dc:creator>
  <cp:lastModifiedBy>UFSC – Equipe Técnica Meta 2</cp:lastModifiedBy>
  <cp:revision>1</cp:revision>
  <dcterms:created xsi:type="dcterms:W3CDTF">2026-10-07T12:19:05Z</dcterms:created>
  <dcterms:modified xsi:type="dcterms:W3CDTF">2026-10-07T12:19:05Z</dcterms:modified>
</cp:coreProperties>
</file>